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A7A7"/>
    <a:srgbClr val="DCDCDC"/>
    <a:srgbClr val="869F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F49EF-EAE8-464C-A2B9-548347351A51}" v="98" dt="2025-12-08T21:52:54.720"/>
    <p1510:client id="{85589647-6FE8-4ED6-8E8D-BC8C79110168}" v="720" dt="2025-12-08T21:46:07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009" autoAdjust="0"/>
    <p:restoredTop sz="97386" autoAdjust="0"/>
  </p:normalViewPr>
  <p:slideViewPr>
    <p:cSldViewPr snapToGrid="0">
      <p:cViewPr>
        <p:scale>
          <a:sx n="200" d="100"/>
          <a:sy n="200" d="100"/>
        </p:scale>
        <p:origin x="1644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9461511ca2_2_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19461511ca2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B AI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4419600" y="463034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Calibri"/>
              <a:buNone/>
              <a:defRPr sz="3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noAutofit/>
          </a:bodyPr>
          <a:lstStyle>
            <a:lvl1pPr marL="4572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4419600" y="4630340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  <a:defRPr sz="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/>
        </p:nvSpPr>
        <p:spPr>
          <a:xfrm>
            <a:off x="268976" y="183875"/>
            <a:ext cx="42522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FastDiff: A Lightweight and Accelerated Diffusion Framework for Efficient Image-to-Image Generation</a:t>
            </a:r>
            <a:endParaRPr sz="400"/>
          </a:p>
        </p:txBody>
      </p:sp>
      <p:sp>
        <p:nvSpPr>
          <p:cNvPr id="68" name="Google Shape;68;p16"/>
          <p:cNvSpPr txBox="1"/>
          <p:nvPr/>
        </p:nvSpPr>
        <p:spPr>
          <a:xfrm>
            <a:off x="273957" y="839194"/>
            <a:ext cx="2517926" cy="16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lang="fr-FR" sz="900" b="1" i="0" u="none" strike="noStrike" cap="none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r>
              <a:rPr lang="fr-F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fr-FR" sz="900" b="1" i="0" u="none" strike="noStrike" cap="none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fr-F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fr-FR" sz="900" b="1" i="0" u="none" strike="noStrike" cap="none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FastDiff</a:t>
            </a:r>
            <a:endParaRPr sz="400" b="1"/>
          </a:p>
        </p:txBody>
      </p:sp>
      <p:sp>
        <p:nvSpPr>
          <p:cNvPr id="69" name="Google Shape;69;p16"/>
          <p:cNvSpPr txBox="1"/>
          <p:nvPr/>
        </p:nvSpPr>
        <p:spPr>
          <a:xfrm>
            <a:off x="265270" y="1004768"/>
            <a:ext cx="2606173" cy="1281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rgbClr val="344854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Diffusion models have become a leading approach for high-quality image generation by learning to reverse a gradual noising process. In this project, we propose </a:t>
            </a:r>
            <a:r>
              <a:rPr lang="en-US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FastDiff</a:t>
            </a:r>
            <a:r>
              <a:rPr lang="en-US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, a lightweight and accelerated diffusion framework tailored for efficient image-to-image generation. By improving both model architecture and sampling strategy, </a:t>
            </a:r>
            <a:r>
              <a:rPr lang="en-US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FastDiff</a:t>
            </a:r>
            <a:r>
              <a:rPr lang="en-US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aims to deliver strong visual quality with significantly reduced computational overhead. </a:t>
            </a:r>
            <a:endParaRPr lang="en-US" sz="60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4854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</a:p>
          <a:p>
            <a:pPr marL="171450" lvl="0" indent="-171450">
              <a:lnSpc>
                <a:spcPct val="120000"/>
              </a:lnSpc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600" b="1">
                <a:solidFill>
                  <a:schemeClr val="tx1"/>
                </a:solidFill>
              </a:rPr>
              <a:t>Lightweight U-Net</a:t>
            </a:r>
            <a:r>
              <a:rPr lang="en-US" sz="600">
                <a:solidFill>
                  <a:schemeClr val="tx1"/>
                </a:solidFill>
              </a:rPr>
              <a:t> for reduced computational cost</a:t>
            </a:r>
          </a:p>
          <a:p>
            <a:pPr marL="171450" indent="-171450">
              <a:lnSpc>
                <a:spcPct val="120000"/>
              </a:lnSpc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600" b="1">
                <a:solidFill>
                  <a:schemeClr val="tx1"/>
                </a:solidFill>
              </a:rPr>
              <a:t>Mixed-precision training (AMP)</a:t>
            </a:r>
            <a:r>
              <a:rPr lang="en-US" sz="600">
                <a:solidFill>
                  <a:schemeClr val="tx1"/>
                </a:solidFill>
              </a:rPr>
              <a:t> for 1.5–2× faster training</a:t>
            </a:r>
          </a:p>
          <a:p>
            <a:pPr marL="171450" lvl="0" indent="-171450">
              <a:lnSpc>
                <a:spcPct val="120000"/>
              </a:lnSpc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600" b="1">
                <a:solidFill>
                  <a:schemeClr val="tx1"/>
                </a:solidFill>
              </a:rPr>
              <a:t>Accelerated sampling</a:t>
            </a:r>
            <a:r>
              <a:rPr lang="en-US" sz="600">
                <a:solidFill>
                  <a:schemeClr val="tx1"/>
                </a:solidFill>
              </a:rPr>
              <a:t> via DDIM with fewer reverse steps</a:t>
            </a:r>
          </a:p>
          <a:p>
            <a:pPr marL="171450" lvl="0" indent="-171450">
              <a:lnSpc>
                <a:spcPct val="120000"/>
              </a:lnSpc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600" b="1">
                <a:solidFill>
                  <a:schemeClr val="tx1"/>
                </a:solidFill>
              </a:rPr>
              <a:t>Efficiency-focused design</a:t>
            </a:r>
            <a:r>
              <a:rPr lang="en-US" sz="600">
                <a:solidFill>
                  <a:schemeClr val="tx1"/>
                </a:solidFill>
              </a:rPr>
              <a:t> enabling faster image-to-image generation</a:t>
            </a:r>
            <a:endParaRPr lang="en-US" sz="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73957" y="2343509"/>
            <a:ext cx="2517926" cy="16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altLang="zh-CN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sz="400" b="1"/>
          </a:p>
        </p:txBody>
      </p:sp>
      <p:sp>
        <p:nvSpPr>
          <p:cNvPr id="76" name="Google Shape;76;p16"/>
          <p:cNvSpPr txBox="1"/>
          <p:nvPr/>
        </p:nvSpPr>
        <p:spPr>
          <a:xfrm>
            <a:off x="273958" y="2503462"/>
            <a:ext cx="1431568" cy="13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fr-FR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an </a:t>
            </a:r>
            <a:r>
              <a:rPr lang="fr-FR" sz="600" err="1">
                <a:solidFill>
                  <a:schemeClr val="tx1"/>
                </a:solidFill>
              </a:rPr>
              <a:t>FastDiff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600">
                <a:solidFill>
                  <a:schemeClr val="tx1"/>
                </a:solidFill>
              </a:rPr>
              <a:t>T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raining Pipeline</a:t>
            </a:r>
          </a:p>
        </p:txBody>
      </p:sp>
      <p:sp>
        <p:nvSpPr>
          <p:cNvPr id="85" name="Google Shape;85;p16"/>
          <p:cNvSpPr txBox="1"/>
          <p:nvPr/>
        </p:nvSpPr>
        <p:spPr>
          <a:xfrm>
            <a:off x="4856488" y="183872"/>
            <a:ext cx="1681200" cy="1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/>
              <a:t>Jincheng Rao</a:t>
            </a:r>
            <a:r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600"/>
              <a:t>Zihan Xiao</a:t>
            </a:r>
            <a:r>
              <a:rPr lang="en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00"/>
          </a:p>
        </p:txBody>
      </p:sp>
      <p:grpSp>
        <p:nvGrpSpPr>
          <p:cNvPr id="88" name="Google Shape;88;p16"/>
          <p:cNvGrpSpPr/>
          <p:nvPr/>
        </p:nvGrpSpPr>
        <p:grpSpPr>
          <a:xfrm>
            <a:off x="7845063" y="109075"/>
            <a:ext cx="966754" cy="585113"/>
            <a:chOff x="8779933" y="719099"/>
            <a:chExt cx="2607733" cy="1870566"/>
          </a:xfrm>
        </p:grpSpPr>
        <p:sp>
          <p:nvSpPr>
            <p:cNvPr id="89" name="Google Shape;89;p16"/>
            <p:cNvSpPr/>
            <p:nvPr/>
          </p:nvSpPr>
          <p:spPr>
            <a:xfrm>
              <a:off x="8779933" y="719099"/>
              <a:ext cx="2607733" cy="1870566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64705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24075" tIns="12025" rIns="24075" bIns="120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Calibri"/>
                <a:buNone/>
              </a:pPr>
              <a:endParaRPr sz="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0" name="Google Shape;90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044167" y="846099"/>
              <a:ext cx="2079264" cy="1564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76;p16">
            <a:extLst>
              <a:ext uri="{FF2B5EF4-FFF2-40B4-BE49-F238E27FC236}">
                <a16:creationId xmlns:a16="http://schemas.microsoft.com/office/drawing/2014/main" id="{CA088ED1-84A0-3382-C15E-57BA2278E274}"/>
              </a:ext>
            </a:extLst>
          </p:cNvPr>
          <p:cNvSpPr txBox="1"/>
          <p:nvPr/>
        </p:nvSpPr>
        <p:spPr>
          <a:xfrm>
            <a:off x="1765108" y="2503462"/>
            <a:ext cx="967193" cy="1350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DDPM vs. DDIM</a:t>
            </a:r>
          </a:p>
        </p:txBody>
      </p:sp>
      <p:sp>
        <p:nvSpPr>
          <p:cNvPr id="136" name="Google Shape;76;p16">
            <a:extLst>
              <a:ext uri="{FF2B5EF4-FFF2-40B4-BE49-F238E27FC236}">
                <a16:creationId xmlns:a16="http://schemas.microsoft.com/office/drawing/2014/main" id="{B5403AC0-22E0-09EB-8635-7245846140B9}"/>
              </a:ext>
            </a:extLst>
          </p:cNvPr>
          <p:cNvSpPr txBox="1"/>
          <p:nvPr/>
        </p:nvSpPr>
        <p:spPr>
          <a:xfrm>
            <a:off x="266700" y="2666246"/>
            <a:ext cx="1457467" cy="13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en-US" altLang="zh-CN" sz="600" err="1">
                <a:solidFill>
                  <a:schemeClr val="tx1"/>
                </a:solidFill>
              </a:rPr>
              <a:t>AnalyzeQ</a:t>
            </a:r>
            <a:r>
              <a:rPr lang="fr-FR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uality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fr-FR" sz="600" err="1">
                <a:solidFill>
                  <a:schemeClr val="tx1"/>
                </a:solidFill>
              </a:rPr>
              <a:t>E</a:t>
            </a:r>
            <a:r>
              <a:rPr lang="fr-FR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fficiency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600">
                <a:solidFill>
                  <a:schemeClr val="tx1"/>
                </a:solidFill>
              </a:rPr>
              <a:t>T</a:t>
            </a: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rade-</a:t>
            </a:r>
            <a:r>
              <a:rPr lang="fr-FR" sz="600" b="0" i="0" u="none" strike="noStrike" cap="none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offs</a:t>
            </a:r>
            <a:endParaRPr lang="fr-FR" sz="6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76;p16">
            <a:extLst>
              <a:ext uri="{FF2B5EF4-FFF2-40B4-BE49-F238E27FC236}">
                <a16:creationId xmlns:a16="http://schemas.microsoft.com/office/drawing/2014/main" id="{2BACA6B3-1174-15DA-CF52-29D00F312ABC}"/>
              </a:ext>
            </a:extLst>
          </p:cNvPr>
          <p:cNvSpPr txBox="1"/>
          <p:nvPr/>
        </p:nvSpPr>
        <p:spPr>
          <a:xfrm>
            <a:off x="1758758" y="2672550"/>
            <a:ext cx="973543" cy="13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4854"/>
              </a:buClr>
              <a:buSzPts val="600"/>
              <a:buFont typeface="Arial" panose="020B0604020202020204" pitchFamily="34" charset="0"/>
              <a:buChar char="•"/>
            </a:pPr>
            <a:r>
              <a:rPr lang="fr-FR" sz="6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Explore extensions</a:t>
            </a:r>
          </a:p>
        </p:txBody>
      </p:sp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40BD41DD-1D74-AE98-0231-01D0408C5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4" y="2931983"/>
            <a:ext cx="3096465" cy="1744650"/>
          </a:xfrm>
          <a:prstGeom prst="rect">
            <a:avLst/>
          </a:prstGeom>
        </p:spPr>
      </p:pic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D511FF06-A667-4020-EAC0-8D4B97A4B699}"/>
              </a:ext>
            </a:extLst>
          </p:cNvPr>
          <p:cNvCxnSpPr>
            <a:cxnSpLocks/>
            <a:stCxn id="58" idx="3"/>
          </p:cNvCxnSpPr>
          <p:nvPr/>
        </p:nvCxnSpPr>
        <p:spPr>
          <a:xfrm flipH="1">
            <a:off x="2180159" y="2571004"/>
            <a:ext cx="552142" cy="462704"/>
          </a:xfrm>
          <a:prstGeom prst="bentConnector3">
            <a:avLst>
              <a:gd name="adj1" fmla="val -414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0A2DCF2-5D7B-397F-C2C3-032406BD00CD}"/>
              </a:ext>
            </a:extLst>
          </p:cNvPr>
          <p:cNvGrpSpPr/>
          <p:nvPr/>
        </p:nvGrpSpPr>
        <p:grpSpPr>
          <a:xfrm>
            <a:off x="3237983" y="984019"/>
            <a:ext cx="2869649" cy="3955482"/>
            <a:chOff x="3237983" y="984019"/>
            <a:chExt cx="2869649" cy="3955482"/>
          </a:xfrm>
        </p:grpSpPr>
        <p:pic>
          <p:nvPicPr>
            <p:cNvPr id="8" name="Picture 7" descr="A diagram of a company&#10;&#10;AI-generated content may be incorrect.">
              <a:extLst>
                <a:ext uri="{FF2B5EF4-FFF2-40B4-BE49-F238E27FC236}">
                  <a16:creationId xmlns:a16="http://schemas.microsoft.com/office/drawing/2014/main" id="{2B02AA8A-8254-039E-9485-D7DDCCE95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47007" y="1067070"/>
              <a:ext cx="2447217" cy="1654881"/>
            </a:xfrm>
            <a:prstGeom prst="rect">
              <a:avLst/>
            </a:prstGeom>
          </p:spPr>
        </p:pic>
        <p:pic>
          <p:nvPicPr>
            <p:cNvPr id="42" name="Picture 4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0D2434F4-46C3-47A9-24E9-F33557B28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14618" y="3186004"/>
              <a:ext cx="1916378" cy="146457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Google Shape;80;p16"/>
                <p:cNvSpPr txBox="1"/>
                <p:nvPr/>
              </p:nvSpPr>
              <p:spPr>
                <a:xfrm>
                  <a:off x="3291662" y="2721044"/>
                  <a:ext cx="2762290" cy="3012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025" tIns="12025" rIns="12025" bIns="12025" anchor="t" anchorCtr="0">
                  <a:spAutoFit/>
                </a:bodyPr>
                <a:lstStyle/>
                <a:p>
                  <a:pPr lvl="0">
                    <a:buClr>
                      <a:srgbClr val="344854"/>
                    </a:buClr>
                    <a:buSzPts val="300"/>
                  </a:pPr>
                  <a:r>
                    <a:rPr lang="en-US" sz="600"/>
                    <a:t>Self-attention introduces </a:t>
                  </a:r>
                  <a14:m>
                    <m:oMath xmlns:m="http://schemas.openxmlformats.org/officeDocument/2006/math">
                      <m:r>
                        <a:rPr lang="en-US" sz="6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ar-AE" sz="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600"/>
                    <a:t>computational cost, making it the primary bottleneck in diffusion U-Nets. Removing attention significantly reduces </a:t>
                  </a:r>
                  <a:r>
                    <a:rPr lang="en-US" sz="600" b="1"/>
                    <a:t>FLOPs(Floating Point Operations) </a:t>
                  </a:r>
                  <a:r>
                    <a:rPr lang="en-US" sz="600"/>
                    <a:t>and accelerates both training and sampling.</a:t>
                  </a:r>
                  <a:endParaRPr sz="600"/>
                </a:p>
              </p:txBody>
            </p:sp>
          </mc:Choice>
          <mc:Fallback>
            <p:sp>
              <p:nvSpPr>
                <p:cNvPr id="80" name="Google Shape;80;p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662" y="2721044"/>
                  <a:ext cx="2762290" cy="301284"/>
                </a:xfrm>
                <a:prstGeom prst="rect">
                  <a:avLst/>
                </a:prstGeom>
                <a:blipFill>
                  <a:blip r:embed="rId7"/>
                  <a:stretch>
                    <a:fillRect l="-1545" t="-6000" r="-1325" b="-12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E5CF908-BD17-2019-EE75-5358387EA271}"/>
                </a:ext>
              </a:extLst>
            </p:cNvPr>
            <p:cNvSpPr txBox="1"/>
            <p:nvPr/>
          </p:nvSpPr>
          <p:spPr>
            <a:xfrm>
              <a:off x="3736826" y="984019"/>
              <a:ext cx="18719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/>
                <a:t>Lightweight U-Net Architecture </a:t>
              </a:r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5ADFC1-B75D-DBA5-5B1A-AC0DF79F993C}"/>
                </a:ext>
              </a:extLst>
            </p:cNvPr>
            <p:cNvSpPr txBox="1"/>
            <p:nvPr/>
          </p:nvSpPr>
          <p:spPr>
            <a:xfrm>
              <a:off x="3237983" y="4477836"/>
              <a:ext cx="28696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/>
                <a:t>AMP accelerates training by combining </a:t>
              </a:r>
              <a:r>
                <a:rPr lang="en-US" sz="600" b="1"/>
                <a:t>TF32 (</a:t>
              </a:r>
              <a:r>
                <a:rPr lang="en-US" sz="500" b="1"/>
                <a:t>TensorFloat-32</a:t>
              </a:r>
              <a:r>
                <a:rPr lang="en-US" sz="600" b="1"/>
                <a:t>)</a:t>
              </a:r>
              <a:r>
                <a:rPr lang="en-US" sz="600"/>
                <a:t> for fast matrix operations, </a:t>
              </a:r>
              <a:r>
                <a:rPr lang="en-US" sz="600" b="1"/>
                <a:t>FP16 (</a:t>
              </a:r>
              <a:r>
                <a:rPr lang="en-US" sz="500" b="1"/>
                <a:t>Half Precision 16-bit Floating Point</a:t>
              </a:r>
              <a:r>
                <a:rPr lang="en-US" sz="600" b="1"/>
                <a:t>)</a:t>
              </a:r>
              <a:r>
                <a:rPr lang="en-US" sz="600"/>
                <a:t> for the forward pass, and </a:t>
              </a:r>
              <a:r>
                <a:rPr lang="en-US" sz="600" b="1"/>
                <a:t>FP32 (</a:t>
              </a:r>
              <a:r>
                <a:rPr lang="en-US" sz="500" b="1"/>
                <a:t>Full Precision 32-bit Floating Point</a:t>
              </a:r>
              <a:r>
                <a:rPr lang="en-US" sz="600" b="1"/>
                <a:t>)</a:t>
              </a:r>
              <a:r>
                <a:rPr lang="en-US" sz="600"/>
                <a:t> for gradient computation and optimization, enabling efficient yet numerically stable mixed-precision learning.</a:t>
              </a:r>
              <a:endParaRPr lang="en-US" sz="600" b="1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3AB7898-9D67-AB4D-566D-3FB2EA567927}"/>
                </a:ext>
              </a:extLst>
            </p:cNvPr>
            <p:cNvSpPr txBox="1"/>
            <p:nvPr/>
          </p:nvSpPr>
          <p:spPr>
            <a:xfrm>
              <a:off x="3409850" y="3019945"/>
              <a:ext cx="25259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/>
                <a:t>AMP (Automatic Mixed Precision) Training Flow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FCFD6C-98DC-A478-6AE7-517F4A45445E}"/>
              </a:ext>
            </a:extLst>
          </p:cNvPr>
          <p:cNvGrpSpPr/>
          <p:nvPr/>
        </p:nvGrpSpPr>
        <p:grpSpPr>
          <a:xfrm>
            <a:off x="6288840" y="757735"/>
            <a:ext cx="2823319" cy="4313597"/>
            <a:chOff x="6293389" y="757735"/>
            <a:chExt cx="2823319" cy="4313597"/>
          </a:xfrm>
        </p:grpSpPr>
        <p:pic>
          <p:nvPicPr>
            <p:cNvPr id="12" name="Picture 11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63E85C70-320E-246F-637C-69A122DF5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17331" y="2949885"/>
              <a:ext cx="2375435" cy="989764"/>
            </a:xfrm>
            <a:prstGeom prst="rect">
              <a:avLst/>
            </a:prstGeom>
          </p:spPr>
        </p:pic>
        <p:sp>
          <p:nvSpPr>
            <p:cNvPr id="73" name="Google Shape;73;p16"/>
            <p:cNvSpPr txBox="1"/>
            <p:nvPr/>
          </p:nvSpPr>
          <p:spPr>
            <a:xfrm>
              <a:off x="6446085" y="932256"/>
              <a:ext cx="2517926" cy="1166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25" tIns="12025" rIns="12025" bIns="12025" anchor="t" anchorCtr="0">
              <a:spAutoFit/>
            </a:bodyPr>
            <a:lstStyle/>
            <a:p>
              <a:pPr>
                <a:buSzPts val="600"/>
              </a:pPr>
              <a:r>
                <a:rPr lang="en-US" sz="600"/>
                <a:t>Training Loss &amp; Learning Rate Schedule on MNIST (20 Epochs)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28B41EC-C275-1F5E-09CD-2D8A884B2D01}"/>
                </a:ext>
              </a:extLst>
            </p:cNvPr>
            <p:cNvGrpSpPr/>
            <p:nvPr/>
          </p:nvGrpSpPr>
          <p:grpSpPr>
            <a:xfrm>
              <a:off x="6501666" y="4697913"/>
              <a:ext cx="2406765" cy="373419"/>
              <a:chOff x="6576468" y="4697913"/>
              <a:chExt cx="2406765" cy="373419"/>
            </a:xfrm>
          </p:grpSpPr>
          <p:sp>
            <p:nvSpPr>
              <p:cNvPr id="83" name="Google Shape;83;p16"/>
              <p:cNvSpPr txBox="1"/>
              <p:nvPr/>
            </p:nvSpPr>
            <p:spPr>
              <a:xfrm>
                <a:off x="6576468" y="4697913"/>
                <a:ext cx="1759729" cy="90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025" tIns="12025" rIns="12025" bIns="120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lang="en" sz="6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References</a:t>
                </a:r>
                <a:endParaRPr sz="400"/>
              </a:p>
            </p:txBody>
          </p:sp>
          <p:sp>
            <p:nvSpPr>
              <p:cNvPr id="84" name="Google Shape;84;p16"/>
              <p:cNvSpPr txBox="1"/>
              <p:nvPr/>
            </p:nvSpPr>
            <p:spPr>
              <a:xfrm>
                <a:off x="6576468" y="4748504"/>
                <a:ext cx="2406765" cy="322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025" tIns="12025" rIns="12025" bIns="12025" anchor="b" anchorCtr="0">
                <a:spAutoFit/>
              </a:bodyPr>
              <a:lstStyle/>
              <a:p>
                <a:pPr lvl="0">
                  <a:lnSpc>
                    <a:spcPct val="120000"/>
                  </a:lnSpc>
                  <a:spcBef>
                    <a:spcPts val="200"/>
                  </a:spcBef>
                  <a:buSzPts val="400"/>
                </a:pPr>
                <a:r>
                  <a:rPr lang="it-IT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Ho, J., Jain, A., &amp; Abbeel, P. (2020). </a:t>
                </a:r>
                <a:r>
                  <a:rPr lang="en-US" sz="400"/>
                  <a:t>“</a:t>
                </a:r>
                <a:r>
                  <a:rPr lang="it-IT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Denoising Diffusion Probabilistic Models</a:t>
                </a:r>
                <a:r>
                  <a:rPr lang="en-US" altLang="zh-CN" sz="400"/>
                  <a:t>”</a:t>
                </a:r>
                <a:r>
                  <a:rPr lang="it-IT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r>
                  <a:rPr lang="en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" sz="400" b="0" i="0" u="none" strike="noStrike" cap="none">
                    <a:solidFill>
                      <a:srgbClr val="677B8C"/>
                    </a:solidFill>
                    <a:latin typeface="Arial"/>
                    <a:ea typeface="Arial"/>
                    <a:cs typeface="Arial"/>
                    <a:sym typeface="Arial"/>
                  </a:rPr>
                  <a:t>In: </a:t>
                </a:r>
                <a:r>
                  <a:rPr lang="fr-FR" sz="400" b="0" i="0" u="none" strike="noStrike" cap="none" err="1">
                    <a:solidFill>
                      <a:srgbClr val="677B8C"/>
                    </a:solidFill>
                    <a:latin typeface="Arial"/>
                    <a:ea typeface="Arial"/>
                    <a:cs typeface="Arial"/>
                    <a:sym typeface="Arial"/>
                  </a:rPr>
                  <a:t>NeurIPS</a:t>
                </a:r>
                <a:r>
                  <a:rPr lang="fr-FR" sz="400" b="0" i="0" u="none" strike="noStrike" cap="none">
                    <a:solidFill>
                      <a:srgbClr val="677B8C"/>
                    </a:solidFill>
                    <a:latin typeface="Arial"/>
                    <a:ea typeface="Arial"/>
                    <a:cs typeface="Arial"/>
                    <a:sym typeface="Arial"/>
                  </a:rPr>
                  <a:t> 33.</a:t>
                </a:r>
                <a:endParaRPr sz="400"/>
              </a:p>
              <a:p>
                <a:pPr lvl="0">
                  <a:lnSpc>
                    <a:spcPct val="120000"/>
                  </a:lnSpc>
                  <a:spcBef>
                    <a:spcPts val="200"/>
                  </a:spcBef>
                  <a:buSzPts val="400"/>
                </a:pPr>
                <a:r>
                  <a:rPr lang="fr-FR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Nichol, A. Q., &amp; </a:t>
                </a:r>
                <a:r>
                  <a:rPr lang="fr-FR" sz="400" b="0" i="0" u="none" strike="noStrike" cap="none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Dhariwal</a:t>
                </a:r>
                <a:r>
                  <a:rPr lang="fr-FR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, P. (2021</a:t>
                </a:r>
                <a:r>
                  <a:rPr lang="fr-FR" sz="400"/>
                  <a:t>). </a:t>
                </a:r>
                <a:r>
                  <a:rPr lang="en-US" altLang="zh-CN" sz="400"/>
                  <a:t>“</a:t>
                </a:r>
                <a:r>
                  <a:rPr lang="fr-FR" sz="400" err="1"/>
                  <a:t>Improved</a:t>
                </a:r>
                <a:r>
                  <a:rPr lang="fr-FR" sz="400"/>
                  <a:t> </a:t>
                </a:r>
                <a:r>
                  <a:rPr lang="fr-FR" sz="400" b="0" i="0" u="none" strike="noStrike" cap="none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Denoising</a:t>
                </a:r>
                <a:r>
                  <a:rPr lang="fr-FR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Diffusion </a:t>
                </a:r>
                <a:r>
                  <a:rPr lang="fr-FR" sz="400" b="0" i="0" u="none" strike="noStrike" cap="none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Probabilistic</a:t>
                </a:r>
                <a:r>
                  <a:rPr lang="fr-FR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fr-FR" sz="400" b="0" i="0" u="none" strike="noStrike" cap="none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Models</a:t>
                </a:r>
                <a:r>
                  <a:rPr lang="en-US" altLang="zh-CN" sz="400"/>
                  <a:t>”</a:t>
                </a:r>
                <a:r>
                  <a:rPr lang="fr-FR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r>
                  <a:rPr lang="en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" sz="400" b="0" i="0" u="none" strike="noStrike" cap="none">
                    <a:solidFill>
                      <a:srgbClr val="677B8C"/>
                    </a:solidFill>
                    <a:latin typeface="Arial"/>
                    <a:ea typeface="Arial"/>
                    <a:cs typeface="Arial"/>
                    <a:sym typeface="Arial"/>
                  </a:rPr>
                  <a:t>In:</a:t>
                </a:r>
                <a:r>
                  <a:rPr lang="fr-FR" sz="400" b="0" i="0" u="none" strike="noStrike" cap="none">
                    <a:solidFill>
                      <a:srgbClr val="677B8C"/>
                    </a:solidFill>
                    <a:latin typeface="Arial"/>
                    <a:ea typeface="Arial"/>
                    <a:cs typeface="Arial"/>
                    <a:sym typeface="Arial"/>
                  </a:rPr>
                  <a:t>ICML 2021</a:t>
                </a:r>
                <a:r>
                  <a:rPr lang="en" sz="400" b="0" i="0" u="none" strike="noStrike" cap="none">
                    <a:solidFill>
                      <a:srgbClr val="677B8C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sz="400"/>
              </a:p>
              <a:p>
                <a:pPr marL="0" marR="0" lvl="0" indent="0" algn="l" rtl="0">
                  <a:lnSpc>
                    <a:spcPct val="12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400"/>
                  <a:buFont typeface="Arial"/>
                  <a:buNone/>
                </a:pPr>
                <a:r>
                  <a:rPr lang="fr-FR" sz="400" b="0" i="0" u="none" strike="noStrike" cap="none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Dhariwal</a:t>
                </a:r>
                <a:r>
                  <a:rPr lang="fr-FR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, P., &amp; Nichol, A. (2021). Diffusion </a:t>
                </a:r>
                <a:r>
                  <a:rPr lang="fr-FR" sz="400" b="0" i="0" u="none" strike="noStrike" cap="none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Models</a:t>
                </a:r>
                <a:r>
                  <a:rPr lang="fr-FR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Beat </a:t>
                </a:r>
                <a:r>
                  <a:rPr lang="fr-FR" sz="400" b="0" i="0" u="none" strike="noStrike" cap="none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GANs</a:t>
                </a:r>
                <a:r>
                  <a:rPr lang="fr-FR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on Image </a:t>
                </a:r>
                <a:r>
                  <a:rPr lang="fr-FR" sz="400" b="0" i="0" u="none" strike="noStrike" cap="none" err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Synthesis</a:t>
                </a:r>
                <a:r>
                  <a:rPr lang="fr-FR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r>
                  <a:rPr lang="en" sz="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" sz="400" b="0" i="0" u="none" strike="noStrike" cap="none">
                    <a:solidFill>
                      <a:srgbClr val="677B8C"/>
                    </a:solidFill>
                    <a:latin typeface="Arial"/>
                    <a:ea typeface="Arial"/>
                    <a:cs typeface="Arial"/>
                    <a:sym typeface="Arial"/>
                  </a:rPr>
                  <a:t>In:</a:t>
                </a:r>
                <a:r>
                  <a:rPr lang="fr-FR" sz="400" b="0" i="0" u="none" strike="noStrike" cap="none" err="1">
                    <a:solidFill>
                      <a:srgbClr val="677B8C"/>
                    </a:solidFill>
                    <a:latin typeface="Arial"/>
                    <a:ea typeface="Arial"/>
                    <a:cs typeface="Arial"/>
                    <a:sym typeface="Arial"/>
                  </a:rPr>
                  <a:t>NeurIPS</a:t>
                </a:r>
                <a:r>
                  <a:rPr lang="fr-FR" sz="400" b="0" i="0" u="none" strike="noStrike" cap="none">
                    <a:solidFill>
                      <a:srgbClr val="677B8C"/>
                    </a:solidFill>
                    <a:latin typeface="Arial"/>
                    <a:ea typeface="Arial"/>
                    <a:cs typeface="Arial"/>
                    <a:sym typeface="Arial"/>
                  </a:rPr>
                  <a:t> 34</a:t>
                </a:r>
                <a:r>
                  <a:rPr lang="en" sz="400" b="0" i="0" u="none" strike="noStrike" cap="none">
                    <a:solidFill>
                      <a:srgbClr val="677B8C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sz="400"/>
              </a:p>
            </p:txBody>
          </p:sp>
        </p:grpSp>
        <p:pic>
          <p:nvPicPr>
            <p:cNvPr id="55" name="Picture 54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9DD0B2B6-320B-9113-CE6B-EBA355AE1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73124" y="1054517"/>
              <a:ext cx="2463849" cy="1026604"/>
            </a:xfrm>
            <a:prstGeom prst="rect">
              <a:avLst/>
            </a:prstGeom>
          </p:spPr>
        </p:pic>
        <p:pic>
          <p:nvPicPr>
            <p:cNvPr id="10" name="Picture 9" descr="A group of squares with different colors&#10;&#10;AI-generated content may be incorrect.">
              <a:extLst>
                <a:ext uri="{FF2B5EF4-FFF2-40B4-BE49-F238E27FC236}">
                  <a16:creationId xmlns:a16="http://schemas.microsoft.com/office/drawing/2014/main" id="{1B0D109D-849C-049B-BB03-F9E7F3E91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94947" y="3941119"/>
              <a:ext cx="2420203" cy="455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1F5A433-C78E-769B-5B0C-0CCE9DD00126}"/>
                </a:ext>
              </a:extLst>
            </p:cNvPr>
            <p:cNvSpPr txBox="1"/>
            <p:nvPr/>
          </p:nvSpPr>
          <p:spPr>
            <a:xfrm>
              <a:off x="6446085" y="2810550"/>
              <a:ext cx="251792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/>
                <a:t>Training Loss &amp; Learning Rate Schedule on CIFAR-10 (100 Epochs)</a:t>
              </a:r>
            </a:p>
          </p:txBody>
        </p:sp>
        <p:pic>
          <p:nvPicPr>
            <p:cNvPr id="22" name="Picture 21" descr="A black and white grid&#10;&#10;AI-generated content may be incorrect.">
              <a:extLst>
                <a:ext uri="{FF2B5EF4-FFF2-40B4-BE49-F238E27FC236}">
                  <a16:creationId xmlns:a16="http://schemas.microsoft.com/office/drawing/2014/main" id="{A5181586-DA2D-FCC7-34F6-DD529FF65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94947" y="2068807"/>
              <a:ext cx="2420203" cy="45378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40760F-A7BB-AA87-4C16-BF6EA57396C3}"/>
                </a:ext>
              </a:extLst>
            </p:cNvPr>
            <p:cNvSpPr txBox="1"/>
            <p:nvPr/>
          </p:nvSpPr>
          <p:spPr>
            <a:xfrm>
              <a:off x="6464788" y="2523332"/>
              <a:ext cx="248052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b="1"/>
                <a:t>Forward and Reverse Diffusion Process on MNIST: </a:t>
              </a:r>
              <a:r>
                <a:rPr lang="en-US" sz="500"/>
                <a:t>The top row illustrates the gradual addition of noise to a clean digit, while the bottom row shows the DDPM reverse denoising steps recovering the original structure.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F84B90-D362-3895-2C6A-51750DF1CAB0}"/>
                </a:ext>
              </a:extLst>
            </p:cNvPr>
            <p:cNvSpPr txBox="1"/>
            <p:nvPr/>
          </p:nvSpPr>
          <p:spPr>
            <a:xfrm>
              <a:off x="6465301" y="4371857"/>
              <a:ext cx="247949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b="1"/>
                <a:t>Forward and Reverse Diffusion Process on CIFAR-10: </a:t>
              </a:r>
              <a:r>
                <a:rPr lang="en-US" sz="500"/>
                <a:t>The top row shows the progressive corruption of a CIFAR-10 horse image, while the bottom row illustrates the reverse denoising steps reconstructing the original visual structure.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3FBE867-32FA-2946-D035-CEACDEC3D00F}"/>
                </a:ext>
              </a:extLst>
            </p:cNvPr>
            <p:cNvSpPr txBox="1"/>
            <p:nvPr/>
          </p:nvSpPr>
          <p:spPr>
            <a:xfrm>
              <a:off x="6293389" y="757735"/>
              <a:ext cx="282331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/>
                <a:t>Training Behavior and Diffusion Reconstruction on MNIST and CIFAR-10</a:t>
              </a:r>
            </a:p>
          </p:txBody>
        </p:sp>
      </p:grpSp>
      <p:sp>
        <p:nvSpPr>
          <p:cNvPr id="4" name="Google Shape;74;p16">
            <a:extLst>
              <a:ext uri="{FF2B5EF4-FFF2-40B4-BE49-F238E27FC236}">
                <a16:creationId xmlns:a16="http://schemas.microsoft.com/office/drawing/2014/main" id="{28634D2C-8C71-B23C-16F6-B0B496B80889}"/>
              </a:ext>
            </a:extLst>
          </p:cNvPr>
          <p:cNvSpPr txBox="1"/>
          <p:nvPr/>
        </p:nvSpPr>
        <p:spPr>
          <a:xfrm>
            <a:off x="3237983" y="833703"/>
            <a:ext cx="2517926" cy="16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25" tIns="12025" rIns="12025" bIns="120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altLang="zh-CN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Structure</a:t>
            </a:r>
            <a:endParaRPr sz="400" b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E70207-9F7F-99B2-47C5-E2A0E7B068F1}"/>
              </a:ext>
            </a:extLst>
          </p:cNvPr>
          <p:cNvCxnSpPr>
            <a:cxnSpLocks/>
          </p:cNvCxnSpPr>
          <p:nvPr/>
        </p:nvCxnSpPr>
        <p:spPr>
          <a:xfrm>
            <a:off x="3134436" y="800669"/>
            <a:ext cx="0" cy="4267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CAB7CD-E779-BCC5-D235-7012F0CA6445}"/>
              </a:ext>
            </a:extLst>
          </p:cNvPr>
          <p:cNvCxnSpPr>
            <a:cxnSpLocks/>
          </p:cNvCxnSpPr>
          <p:nvPr/>
        </p:nvCxnSpPr>
        <p:spPr>
          <a:xfrm>
            <a:off x="6166514" y="800669"/>
            <a:ext cx="0" cy="4267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420</Words>
  <Application>Microsoft Office PowerPoint</Application>
  <PresentationFormat>On-screen Show (16:9)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饶金成</dc:creator>
  <cp:lastModifiedBy>JINCHENG RAO</cp:lastModifiedBy>
  <cp:revision>2</cp:revision>
  <dcterms:modified xsi:type="dcterms:W3CDTF">2025-12-08T21:52:54Z</dcterms:modified>
</cp:coreProperties>
</file>